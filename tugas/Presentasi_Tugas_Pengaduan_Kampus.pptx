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6A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020" y="-1097280"/>
            <a:ext cx="4114800" cy="4114800"/>
          </a:xfrm>
          <a:prstGeom prst="ellipse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97189" y="4206240"/>
            <a:ext cx="2926080" cy="2926080"/>
          </a:xfrm>
          <a:prstGeom prst="ellipse">
            <a:avLst/>
          </a:prstGeom>
          <a:solidFill>
            <a:srgbClr val="26A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457200"/>
            <a:ext cx="1691640" cy="1691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u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94360"/>
            <a:ext cx="1417320" cy="1417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23317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9FC5E8"/>
                </a:solidFill>
                <a:latin typeface="Calibri"/>
              </a:rPr>
              <a:t>LAPORAN TUGAS MATA KULIAH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B3E5FC"/>
                </a:solidFill>
                <a:latin typeface="Calibri"/>
              </a:rPr>
              <a:t>PEMROGRAMAN PERANGKAT BERGERAK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APLIKASI PENGADUAN</a:t>
            </a:r>
          </a:p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FASILITAS KAMPUS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709160"/>
            <a:ext cx="2926080" cy="45720"/>
          </a:xfrm>
          <a:prstGeom prst="rect">
            <a:avLst/>
          </a:prstGeom>
          <a:solidFill>
            <a:srgbClr val="26A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920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D6E4F7"/>
                </a:solidFill>
                <a:latin typeface="Calibri"/>
              </a:rPr>
              <a:t>Aplikasi Mobile Berbasis Client-Server untuk Pelaporan Keluhan Fasilitas Kampus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23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FC5E8"/>
                </a:solidFill>
                <a:latin typeface="Calibri"/>
              </a:rPr>
              <a:t>PROGRAM STUDI TEKNIK INFORMATIKA  •  FAKULTAS SAINS DAN TEKNOLOGI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89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5E8"/>
                </a:solidFill>
                <a:latin typeface="Calibri"/>
              </a:rPr>
              <a:t>UNIVERSITAS MUHAMMADIYAH BANDUNG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6A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9FC5E8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Anggota Kelompok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0" y="1554480"/>
            <a:ext cx="7772400" cy="603504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331720" y="1609344"/>
            <a:ext cx="493776" cy="493776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600200"/>
            <a:ext cx="5029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12121"/>
                </a:solidFill>
                <a:latin typeface="Calibri"/>
              </a:rPr>
              <a:t>Syamil Imaddudin Sinan Erhaff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60020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26A69A"/>
                </a:solidFill>
                <a:latin typeface="Calibri"/>
              </a:rPr>
              <a:t>240102125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2267712"/>
            <a:ext cx="77724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31720" y="2322576"/>
            <a:ext cx="493776" cy="493776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313432"/>
            <a:ext cx="5029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12121"/>
                </a:solidFill>
                <a:latin typeface="Calibri"/>
              </a:rPr>
              <a:t>Naufal Hafizh Wahdiyat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313432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26A69A"/>
                </a:solidFill>
                <a:latin typeface="Calibri"/>
              </a:rPr>
              <a:t>240102090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2980944"/>
            <a:ext cx="7772400" cy="603504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31720" y="3035808"/>
            <a:ext cx="493776" cy="493776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026664"/>
            <a:ext cx="5029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12121"/>
                </a:solidFill>
                <a:latin typeface="Calibri"/>
              </a:rPr>
              <a:t>Adithya Putra Pangestu CW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026664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26A69A"/>
                </a:solidFill>
                <a:latin typeface="Calibri"/>
              </a:rPr>
              <a:t>240102003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4560" y="3694176"/>
            <a:ext cx="77724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331720" y="3749040"/>
            <a:ext cx="493776" cy="493776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739896"/>
            <a:ext cx="5029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12121"/>
                </a:solidFill>
                <a:latin typeface="Calibri"/>
              </a:rPr>
              <a:t>Ahmad Ikhwal Fauzan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739896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26A69A"/>
                </a:solidFill>
                <a:latin typeface="Calibri"/>
              </a:rPr>
              <a:t>240102010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525780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606060"/>
                </a:solidFill>
                <a:latin typeface="Calibri"/>
              </a:rPr>
              <a:t>Program Studi Teknik Informatika — Fakultas Sains Dan Teknologi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6060"/>
                </a:solidFill>
                <a:latin typeface="Calibri"/>
              </a:rPr>
              <a:t>Aplikasi Pengaduan Fasilitas Kampus  —  Pemrograman Perangkat Bergerak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0606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6A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9FC5E8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Topik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0D47A1"/>
                </a:solidFill>
                <a:latin typeface="Calibri"/>
              </a:rPr>
              <a:t>"Perancangan dan Pembangunan Aplikasi Pengaduan Fasilitas</a:t>
            </a:r>
          </a:p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0D47A1"/>
                </a:solidFill>
                <a:latin typeface="Calibri"/>
              </a:rPr>
              <a:t>Kampus Berbasis Mobile dengan Arsitektur Client-Server"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14600"/>
            <a:ext cx="2743200" cy="47548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42032"/>
            <a:ext cx="2560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Nama Aplikasi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514600"/>
            <a:ext cx="83210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542032"/>
            <a:ext cx="80467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12121"/>
                </a:solidFill>
                <a:latin typeface="Calibri"/>
              </a:rPr>
              <a:t>Pengaduan Kampus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81528"/>
            <a:ext cx="2743200" cy="47548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108960"/>
            <a:ext cx="2560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3081528"/>
            <a:ext cx="83210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3108960"/>
            <a:ext cx="80467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12121"/>
                </a:solidFill>
                <a:latin typeface="Calibri"/>
              </a:rPr>
              <a:t>Android (Mobile) — dibangun dengan Flutter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48456"/>
            <a:ext cx="2743200" cy="47548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675888"/>
            <a:ext cx="2560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Arsitektur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3648456"/>
            <a:ext cx="83210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3675888"/>
            <a:ext cx="80467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12121"/>
                </a:solidFill>
                <a:latin typeface="Calibri"/>
              </a:rPr>
              <a:t>Client-Server (3-Tier Architecture)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15384"/>
            <a:ext cx="2743200" cy="47548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242816"/>
            <a:ext cx="2560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Teknologi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4215384"/>
            <a:ext cx="83210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4242816"/>
            <a:ext cx="80467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12121"/>
                </a:solidFill>
                <a:latin typeface="Calibri"/>
              </a:rPr>
              <a:t>Flutter (client), Node.js + Express (server), MySQL (database)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782312"/>
            <a:ext cx="2743200" cy="47548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809744"/>
            <a:ext cx="2560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Pengguna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4782312"/>
            <a:ext cx="83210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4809744"/>
            <a:ext cx="80467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12121"/>
                </a:solidFill>
                <a:latin typeface="Calibri"/>
              </a:rPr>
              <a:t>Mahasiswa (pelapor) &amp; Admin (pengelola)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6060"/>
                </a:solidFill>
                <a:latin typeface="Calibri"/>
              </a:rPr>
              <a:t>Aplikasi Pengaduan Fasilitas Kampus  —  Pemrograman Perangkat Bergerak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0606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6A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9FC5E8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Latar Belakang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>
                <a:solidFill>
                  <a:srgbClr val="26A69A"/>
                </a:solidFill>
                <a:latin typeface="Calibri"/>
              </a:rPr>
              <a:t>●  </a:t>
            </a:r>
            <a:r>
              <a:rPr sz="1700">
                <a:solidFill>
                  <a:srgbClr val="212121"/>
                </a:solidFill>
                <a:latin typeface="Calibri"/>
              </a:rPr>
              <a:t>Fasilitas kampus yang layak sangat penting untuk menunjang kegiatan belajar mengajar.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>
                <a:solidFill>
                  <a:srgbClr val="26A69A"/>
                </a:solidFill>
                <a:latin typeface="Calibri"/>
              </a:rPr>
              <a:t>●  </a:t>
            </a:r>
            <a:r>
              <a:rPr sz="1700">
                <a:solidFill>
                  <a:srgbClr val="212121"/>
                </a:solidFill>
                <a:latin typeface="Calibri"/>
              </a:rPr>
              <a:t>Kerusakan fasilitas (lampu mati, AC, kebersihan, keamanan) sering terjadi dan mengganggu kenyamanan.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>
                <a:solidFill>
                  <a:srgbClr val="26A69A"/>
                </a:solidFill>
                <a:latin typeface="Calibri"/>
              </a:rPr>
              <a:t>●  </a:t>
            </a:r>
            <a:r>
              <a:rPr sz="1700">
                <a:solidFill>
                  <a:srgbClr val="212121"/>
                </a:solidFill>
                <a:latin typeface="Calibri"/>
              </a:rPr>
              <a:t>Pelaporan konvensional (lisan, buku, chat) rentan hilang dan tanpa rekam jejak yang jelas.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>
                <a:solidFill>
                  <a:srgbClr val="26A69A"/>
                </a:solidFill>
                <a:latin typeface="Calibri"/>
              </a:rPr>
              <a:t>●  </a:t>
            </a:r>
            <a:r>
              <a:rPr sz="1700">
                <a:solidFill>
                  <a:srgbClr val="212121"/>
                </a:solidFill>
                <a:latin typeface="Calibri"/>
              </a:rPr>
              <a:t>Tidak ada data terpusat untuk memantau &amp; mengevaluasi penanganan keluhan.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>
                <a:solidFill>
                  <a:srgbClr val="26A69A"/>
                </a:solidFill>
                <a:latin typeface="Calibri"/>
              </a:rPr>
              <a:t>●  </a:t>
            </a:r>
            <a:r>
              <a:rPr sz="1700">
                <a:solidFill>
                  <a:srgbClr val="212121"/>
                </a:solidFill>
                <a:latin typeface="Calibri"/>
              </a:rPr>
              <a:t>Hampir semua mahasiswa memiliki smartphone → aplikasi mobile jadi solusi efektif.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>
                <a:solidFill>
                  <a:srgbClr val="26A69A"/>
                </a:solidFill>
                <a:latin typeface="Calibri"/>
              </a:rPr>
              <a:t>●  </a:t>
            </a:r>
            <a:r>
              <a:rPr sz="1700">
                <a:solidFill>
                  <a:srgbClr val="212121"/>
                </a:solidFill>
                <a:latin typeface="Calibri"/>
              </a:rPr>
              <a:t>Dibutuhkan sistem pelaporan digital yang cepat, terdokumentasi, dan terpantau statusnya.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6060"/>
                </a:solidFill>
                <a:latin typeface="Calibri"/>
              </a:rPr>
              <a:t>Aplikasi Pengaduan Fasilitas Kampus  —  Pemrograman Perangkat Bergerak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0606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6A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9FC5E8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Rumusan Masalah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00" b="1">
                <a:solidFill>
                  <a:srgbClr val="26A69A"/>
                </a:solidFill>
                <a:latin typeface="Calibri"/>
              </a:rPr>
              <a:t>●  </a:t>
            </a:r>
            <a:r>
              <a:rPr sz="1700">
                <a:solidFill>
                  <a:srgbClr val="212121"/>
                </a:solidFill>
                <a:latin typeface="Calibri"/>
              </a:rPr>
              <a:t>Bagaimana merancang aplikasi mobile yang memudahkan mahasiswa melaporkan keluhan fasilitas secara cepat &amp; terdokumentasi?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00" b="1">
                <a:solidFill>
                  <a:srgbClr val="26A69A"/>
                </a:solidFill>
                <a:latin typeface="Calibri"/>
              </a:rPr>
              <a:t>●  </a:t>
            </a:r>
            <a:r>
              <a:rPr sz="1700">
                <a:solidFill>
                  <a:srgbClr val="212121"/>
                </a:solidFill>
                <a:latin typeface="Calibri"/>
              </a:rPr>
              <a:t>Bagaimana menerapkan arsitektur client-server agar aplikasi mobile dapat berkomunikasi dengan server?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00" b="1">
                <a:solidFill>
                  <a:srgbClr val="26A69A"/>
                </a:solidFill>
                <a:latin typeface="Calibri"/>
              </a:rPr>
              <a:t>●  </a:t>
            </a:r>
            <a:r>
              <a:rPr sz="1700">
                <a:solidFill>
                  <a:srgbClr val="212121"/>
                </a:solidFill>
                <a:latin typeface="Calibri"/>
              </a:rPr>
              <a:t>Bagaimana merancang autentikasi &amp; hak akses yang membedakan peran mahasiswa dan admin?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00" b="1">
                <a:solidFill>
                  <a:srgbClr val="26A69A"/>
                </a:solidFill>
                <a:latin typeface="Calibri"/>
              </a:rPr>
              <a:t>●  </a:t>
            </a:r>
            <a:r>
              <a:rPr sz="1700">
                <a:solidFill>
                  <a:srgbClr val="212121"/>
                </a:solidFill>
                <a:latin typeface="Calibri"/>
              </a:rPr>
              <a:t>Bagaimana membangun mekanisme pelaporan berfoto dengan penelusuran status (Menunggu, Diproses, Selesai)?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00" b="1">
                <a:solidFill>
                  <a:srgbClr val="26A69A"/>
                </a:solidFill>
                <a:latin typeface="Calibri"/>
              </a:rPr>
              <a:t>●  </a:t>
            </a:r>
            <a:r>
              <a:rPr sz="1700">
                <a:solidFill>
                  <a:srgbClr val="212121"/>
                </a:solidFill>
                <a:latin typeface="Calibri"/>
              </a:rPr>
              <a:t>Bagaimana merancang basis data &amp; API yang menyimpan data laporan secara terpusat dan terstruktur?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6060"/>
                </a:solidFill>
                <a:latin typeface="Calibri"/>
              </a:rPr>
              <a:t>Aplikasi Pengaduan Fasilitas Kampus  —  Pemrograman Perangkat Bergerak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0606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6A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9FC5E8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Tujuan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26A69A"/>
                </a:solidFill>
                <a:latin typeface="Calibri"/>
              </a:rPr>
              <a:t>●  </a:t>
            </a:r>
            <a:r>
              <a:rPr sz="1700">
                <a:solidFill>
                  <a:srgbClr val="212121"/>
                </a:solidFill>
                <a:latin typeface="Calibri"/>
              </a:rPr>
              <a:t>Tujuan Umum:</a:t>
            </a:r>
          </a:p>
          <a:p>
            <a:pPr lvl="1"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606060"/>
                </a:solidFill>
                <a:latin typeface="Calibri"/>
              </a:rPr>
              <a:t>–  </a:t>
            </a:r>
            <a:r>
              <a:rPr sz="1500">
                <a:solidFill>
                  <a:srgbClr val="606060"/>
                </a:solidFill>
                <a:latin typeface="Calibri"/>
              </a:rPr>
              <a:t>Membangun aplikasi mobile layanan pengaduan fasilitas kampus sebagai solusi digital.</a:t>
            </a:r>
          </a:p>
          <a:p>
            <a:pPr lvl="1"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606060"/>
                </a:solidFill>
                <a:latin typeface="Calibri"/>
              </a:rPr>
              <a:t>–  </a:t>
            </a:r>
            <a:r>
              <a:rPr sz="1500">
                <a:solidFill>
                  <a:srgbClr val="606060"/>
                </a:solidFill>
                <a:latin typeface="Calibri"/>
              </a:rPr>
              <a:t>Menerapkan arsitektur client-server (REST API) sehingga data tersimpan terpusat.</a:t>
            </a:r>
          </a:p>
          <a:p>
            <a:pPr lvl="1"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606060"/>
                </a:solidFill>
                <a:latin typeface="Calibri"/>
              </a:rPr>
              <a:t>–  </a:t>
            </a:r>
            <a:r>
              <a:rPr sz="1500">
                <a:solidFill>
                  <a:srgbClr val="606060"/>
                </a:solidFill>
                <a:latin typeface="Calibri"/>
              </a:rPr>
              <a:t>Menyediakan autentikasi (JWT) &amp; pembedaan peran mahasiswa dan admin.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26A69A"/>
                </a:solidFill>
                <a:latin typeface="Calibri"/>
              </a:rPr>
              <a:t>●  </a:t>
            </a:r>
            <a:r>
              <a:rPr sz="1700">
                <a:solidFill>
                  <a:srgbClr val="212121"/>
                </a:solidFill>
                <a:latin typeface="Calibri"/>
              </a:rPr>
              <a:t>Tujuan Khusus:</a:t>
            </a:r>
          </a:p>
          <a:p>
            <a:pPr lvl="1"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606060"/>
                </a:solidFill>
                <a:latin typeface="Calibri"/>
              </a:rPr>
              <a:t>–  </a:t>
            </a:r>
            <a:r>
              <a:rPr sz="1500">
                <a:solidFill>
                  <a:srgbClr val="606060"/>
                </a:solidFill>
                <a:latin typeface="Calibri"/>
              </a:rPr>
              <a:t>Memfasilitasi pelaporan berbasis bukti (kategori, lokasi, deskripsi, foto).</a:t>
            </a:r>
          </a:p>
          <a:p>
            <a:pPr lvl="1"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606060"/>
                </a:solidFill>
                <a:latin typeface="Calibri"/>
              </a:rPr>
              <a:t>–  </a:t>
            </a:r>
            <a:r>
              <a:rPr sz="1500">
                <a:solidFill>
                  <a:srgbClr val="606060"/>
                </a:solidFill>
                <a:latin typeface="Calibri"/>
              </a:rPr>
              <a:t>Menyediakan penelusuran status laporan secara transparan bagi pelapor.</a:t>
            </a:r>
          </a:p>
          <a:p>
            <a:pPr lvl="1"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606060"/>
                </a:solidFill>
                <a:latin typeface="Calibri"/>
              </a:rPr>
              <a:t>–  </a:t>
            </a:r>
            <a:r>
              <a:rPr sz="1500">
                <a:solidFill>
                  <a:srgbClr val="606060"/>
                </a:solidFill>
                <a:latin typeface="Calibri"/>
              </a:rPr>
              <a:t>Memenuhi tugas mata kuliah sebagai implementasi konsep koneksi server–client.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6060"/>
                </a:solidFill>
                <a:latin typeface="Calibri"/>
              </a:rPr>
              <a:t>Aplikasi Pengaduan Fasilitas Kampus  —  Pemrograman Perangkat Bergerak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0606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6A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9FC5E8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Metode — Waterfall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863" y="1828800"/>
            <a:ext cx="21031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8863" y="1828800"/>
            <a:ext cx="2103120" cy="45720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863" y="1847088"/>
            <a:ext cx="2103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1. Analisis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" y="2395728"/>
            <a:ext cx="18836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6060"/>
                </a:solidFill>
                <a:latin typeface="Calibri"/>
              </a:rPr>
              <a:t>Kebutuhan pengguna &amp; fitur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34843" y="2331720"/>
            <a:ext cx="128016" cy="320040"/>
          </a:xfrm>
          <a:prstGeom prst="rightArrow">
            <a:avLst/>
          </a:prstGeom>
          <a:solidFill>
            <a:srgbClr val="26A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76575" y="1828800"/>
            <a:ext cx="21031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76575" y="1828800"/>
            <a:ext cx="2103120" cy="45720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6575" y="1847088"/>
            <a:ext cx="2103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2. Perancangan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6303" y="2395728"/>
            <a:ext cx="18836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6060"/>
                </a:solidFill>
                <a:latin typeface="Calibri"/>
              </a:rPr>
              <a:t>Arsitektur, ERD, mockup UI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902555" y="2331720"/>
            <a:ext cx="128016" cy="320040"/>
          </a:xfrm>
          <a:prstGeom prst="rightArrow">
            <a:avLst/>
          </a:prstGeom>
          <a:solidFill>
            <a:srgbClr val="26A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44287" y="1828800"/>
            <a:ext cx="21031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44287" y="1828800"/>
            <a:ext cx="2103120" cy="45720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44287" y="1847088"/>
            <a:ext cx="2103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3. Implementasi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4015" y="2395728"/>
            <a:ext cx="18836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6060"/>
                </a:solidFill>
                <a:latin typeface="Calibri"/>
              </a:rPr>
              <a:t>Backend, DB, aplikasi Flutter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70267" y="2331720"/>
            <a:ext cx="128016" cy="320040"/>
          </a:xfrm>
          <a:prstGeom prst="rightArrow">
            <a:avLst/>
          </a:prstGeom>
          <a:solidFill>
            <a:srgbClr val="26A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1999" y="1828800"/>
            <a:ext cx="21031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1999" y="1828800"/>
            <a:ext cx="2103120" cy="45720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1999" y="1847088"/>
            <a:ext cx="2103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4. Pengujian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1727" y="2395728"/>
            <a:ext cx="18836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6060"/>
                </a:solidFill>
                <a:latin typeface="Calibri"/>
              </a:rPr>
              <a:t>Uji API &amp; alur aplikasi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437979" y="2331720"/>
            <a:ext cx="128016" cy="320040"/>
          </a:xfrm>
          <a:prstGeom prst="rightArrow">
            <a:avLst/>
          </a:prstGeom>
          <a:solidFill>
            <a:srgbClr val="26A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79711" y="1828800"/>
            <a:ext cx="21031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579711" y="1828800"/>
            <a:ext cx="2103120" cy="45720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79711" y="1847088"/>
            <a:ext cx="2103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5. Pemeliharaan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89439" y="2395728"/>
            <a:ext cx="18836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6060"/>
                </a:solidFill>
                <a:latin typeface="Calibri"/>
              </a:rPr>
              <a:t>Perbaikan &amp; dokumentasi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D47A1"/>
                </a:solidFill>
                <a:latin typeface="Calibri"/>
              </a:rPr>
              <a:t>Teknologi yang Digunakan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9991" y="4160520"/>
            <a:ext cx="1810512" cy="10058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9991" y="4279392"/>
            <a:ext cx="1810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D47A1"/>
                </a:solidFill>
                <a:latin typeface="Calibri"/>
              </a:rPr>
              <a:t>Mobile (Client)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9991" y="4663440"/>
            <a:ext cx="1810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12121"/>
                </a:solidFill>
                <a:latin typeface="Calibri"/>
              </a:rPr>
              <a:t>Flutter (Dart)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10231" y="4160520"/>
            <a:ext cx="1810512" cy="10058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10231" y="4279392"/>
            <a:ext cx="1810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D47A1"/>
                </a:solidFill>
                <a:latin typeface="Calibri"/>
              </a:rPr>
              <a:t>Server (Backend)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10231" y="4663440"/>
            <a:ext cx="1810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12121"/>
                </a:solidFill>
                <a:latin typeface="Calibri"/>
              </a:rPr>
              <a:t>Node.js + Express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30471" y="4160520"/>
            <a:ext cx="1810512" cy="10058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30471" y="4279392"/>
            <a:ext cx="1810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D47A1"/>
                </a:solidFill>
                <a:latin typeface="Calibri"/>
              </a:rPr>
              <a:t>Basis 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30471" y="4663440"/>
            <a:ext cx="1810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12121"/>
                </a:solidFill>
                <a:latin typeface="Calibri"/>
              </a:rPr>
              <a:t>MySQL / MariaDB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50711" y="4160520"/>
            <a:ext cx="1810512" cy="10058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50711" y="4279392"/>
            <a:ext cx="1810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D47A1"/>
                </a:solidFill>
                <a:latin typeface="Calibri"/>
              </a:rPr>
              <a:t>Autentikasi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50711" y="4663440"/>
            <a:ext cx="1810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12121"/>
                </a:solidFill>
                <a:latin typeface="Calibri"/>
              </a:rPr>
              <a:t>JWT + Bcrypt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70951" y="4160520"/>
            <a:ext cx="1810512" cy="10058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0951" y="4279392"/>
            <a:ext cx="1810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D47A1"/>
                </a:solidFill>
                <a:latin typeface="Calibri"/>
              </a:rPr>
              <a:t>Upload File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70951" y="4663440"/>
            <a:ext cx="1810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12121"/>
                </a:solidFill>
                <a:latin typeface="Calibri"/>
              </a:rPr>
              <a:t>Multer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91191" y="4160520"/>
            <a:ext cx="1810512" cy="10058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91191" y="4279392"/>
            <a:ext cx="1810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D47A1"/>
                </a:solidFill>
                <a:latin typeface="Calibri"/>
              </a:rPr>
              <a:t>Pengujian API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91191" y="4663440"/>
            <a:ext cx="1810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12121"/>
                </a:solidFill>
                <a:latin typeface="Calibri"/>
              </a:rPr>
              <a:t>cURL / Postman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6060"/>
                </a:solidFill>
                <a:latin typeface="Calibri"/>
              </a:rPr>
              <a:t>Aplikasi Pengaduan Fasilitas Kampus  —  Pemrograman Perangkat Bergerak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0606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6A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9FC5E8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Arsitektur Sistem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606060"/>
                </a:solidFill>
                <a:latin typeface="Calibri"/>
              </a:rPr>
              <a:t>Client-Server dengan pola 3-Tier Architecture</a:t>
            </a:r>
          </a:p>
        </p:txBody>
      </p:sp>
      <p:pic>
        <p:nvPicPr>
          <p:cNvPr id="7" name="Picture 6" descr="07_arsitekt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4327" y="1874519"/>
            <a:ext cx="65430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6060"/>
                </a:solidFill>
                <a:latin typeface="Calibri"/>
              </a:rPr>
              <a:t>Aplikasi Pengaduan Fasilitas Kampus  —  Pemrograman Perangkat Bergerak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0606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6A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9FC5E8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Arsitektur Sistem — Rancangan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4023360" cy="4572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89888"/>
            <a:ext cx="4023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users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402336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847088"/>
            <a:ext cx="19202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565C0"/>
                </a:solidFill>
                <a:latin typeface="Calibri"/>
              </a:rPr>
              <a:t>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847088"/>
            <a:ext cx="18288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60"/>
                </a:solidFill>
                <a:latin typeface="Calibri"/>
              </a:rPr>
              <a:t>INT (PK)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12848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231136"/>
            <a:ext cx="19202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565C0"/>
                </a:solidFill>
                <a:latin typeface="Calibri"/>
              </a:rPr>
              <a:t>nama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231136"/>
            <a:ext cx="18288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60"/>
                </a:solidFill>
                <a:latin typeface="Calibri"/>
              </a:rPr>
              <a:t>VARCHAR(100)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596896"/>
            <a:ext cx="402336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2615184"/>
            <a:ext cx="19202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565C0"/>
                </a:solidFill>
                <a:latin typeface="Calibri"/>
              </a:rPr>
              <a:t>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615184"/>
            <a:ext cx="18288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60"/>
                </a:solidFill>
                <a:latin typeface="Calibri"/>
              </a:rPr>
              <a:t>VARCHAR(100)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980944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2999232"/>
            <a:ext cx="19202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565C0"/>
                </a:solidFill>
                <a:latin typeface="Calibri"/>
              </a:rPr>
              <a:t>password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2999232"/>
            <a:ext cx="18288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60"/>
                </a:solidFill>
                <a:latin typeface="Calibri"/>
              </a:rPr>
              <a:t>VARCHAR(255)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364992"/>
            <a:ext cx="402336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383280"/>
            <a:ext cx="19202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565C0"/>
                </a:solidFill>
                <a:latin typeface="Calibri"/>
              </a:rPr>
              <a:t>role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3383280"/>
            <a:ext cx="18288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60"/>
                </a:solidFill>
                <a:latin typeface="Calibri"/>
              </a:rPr>
              <a:t>ENUM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749040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3767328"/>
            <a:ext cx="19202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565C0"/>
                </a:solidFill>
                <a:latin typeface="Calibri"/>
              </a:rPr>
              <a:t>nim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767328"/>
            <a:ext cx="18288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60"/>
                </a:solidFill>
                <a:latin typeface="Calibri"/>
              </a:rPr>
              <a:t>VARCHAR(20)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133088"/>
            <a:ext cx="402336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4151376"/>
            <a:ext cx="19202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565C0"/>
                </a:solidFill>
                <a:latin typeface="Calibri"/>
              </a:rPr>
              <a:t>created_at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4151376"/>
            <a:ext cx="18288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60"/>
                </a:solidFill>
                <a:latin typeface="Calibri"/>
              </a:rPr>
              <a:t>TIMESTAMP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1371600"/>
            <a:ext cx="4023360" cy="457200"/>
          </a:xfrm>
          <a:prstGeom prst="rect">
            <a:avLst/>
          </a:prstGeom>
          <a:solidFill>
            <a:srgbClr val="26A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0" y="1389888"/>
            <a:ext cx="4023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pengaduan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0" y="1828800"/>
            <a:ext cx="402336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16368" y="1847088"/>
            <a:ext cx="19202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6A69A"/>
                </a:solidFill>
                <a:latin typeface="Calibri"/>
              </a:rPr>
              <a:t>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1847088"/>
            <a:ext cx="18288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60"/>
                </a:solidFill>
                <a:latin typeface="Calibri"/>
              </a:rPr>
              <a:t>INT (PK)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2212848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16368" y="2231136"/>
            <a:ext cx="19202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6A69A"/>
                </a:solidFill>
                <a:latin typeface="Calibri"/>
              </a:rPr>
              <a:t>user_id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2231136"/>
            <a:ext cx="18288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60"/>
                </a:solidFill>
                <a:latin typeface="Calibri"/>
              </a:rPr>
              <a:t>INT (FK)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06640" y="2596896"/>
            <a:ext cx="402336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16368" y="2615184"/>
            <a:ext cx="19202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6A69A"/>
                </a:solidFill>
                <a:latin typeface="Calibri"/>
              </a:rPr>
              <a:t>judul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0" y="2615184"/>
            <a:ext cx="18288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60"/>
                </a:solidFill>
                <a:latin typeface="Calibri"/>
              </a:rPr>
              <a:t>VARCHAR(150)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06640" y="2980944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16368" y="2999232"/>
            <a:ext cx="19202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6A69A"/>
                </a:solidFill>
                <a:latin typeface="Calibri"/>
              </a:rPr>
              <a:t>kategori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0" y="2999232"/>
            <a:ext cx="18288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60"/>
                </a:solidFill>
                <a:latin typeface="Calibri"/>
              </a:rPr>
              <a:t>VARCHAR(50)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06640" y="3364992"/>
            <a:ext cx="402336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16368" y="3383280"/>
            <a:ext cx="19202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6A69A"/>
                </a:solidFill>
                <a:latin typeface="Calibri"/>
              </a:rPr>
              <a:t>lokasi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9760" y="3383280"/>
            <a:ext cx="18288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60"/>
                </a:solidFill>
                <a:latin typeface="Calibri"/>
              </a:rPr>
              <a:t>VARCHAR(150)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06640" y="3749040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16368" y="3767328"/>
            <a:ext cx="19202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6A69A"/>
                </a:solidFill>
                <a:latin typeface="Calibri"/>
              </a:rPr>
              <a:t>deskripsi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9760" y="3767328"/>
            <a:ext cx="18288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60"/>
                </a:solidFill>
                <a:latin typeface="Calibri"/>
              </a:rPr>
              <a:t>TEXT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06640" y="4133088"/>
            <a:ext cx="402336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16368" y="4151376"/>
            <a:ext cx="19202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6A69A"/>
                </a:solidFill>
                <a:latin typeface="Calibri"/>
              </a:rPr>
              <a:t>foto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09760" y="4151376"/>
            <a:ext cx="18288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60"/>
                </a:solidFill>
                <a:latin typeface="Calibri"/>
              </a:rPr>
              <a:t>VARCHAR(255)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06640" y="4517136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16368" y="4535424"/>
            <a:ext cx="19202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6A69A"/>
                </a:solidFill>
                <a:latin typeface="Calibri"/>
              </a:rPr>
              <a:t>status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0" y="4535424"/>
            <a:ext cx="18288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60"/>
                </a:solidFill>
                <a:latin typeface="Calibri"/>
              </a:rPr>
              <a:t>ENUM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06640" y="4901184"/>
            <a:ext cx="402336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16368" y="4919472"/>
            <a:ext cx="19202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6A69A"/>
                </a:solidFill>
                <a:latin typeface="Calibri"/>
              </a:rPr>
              <a:t>created_at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09760" y="4919472"/>
            <a:ext cx="18288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60"/>
                </a:solidFill>
                <a:latin typeface="Calibri"/>
              </a:rPr>
              <a:t>TIMESTAMP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29200" y="2834640"/>
            <a:ext cx="2194560" cy="4114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B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0" y="2880360"/>
            <a:ext cx="21945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E65100"/>
                </a:solidFill>
                <a:latin typeface="Calibri"/>
              </a:rPr>
              <a:t>1  ──&lt;  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12121"/>
                </a:solidFill>
                <a:latin typeface="Calibri"/>
              </a:rPr>
              <a:t>Relasi: 1 user (mahasiswa) dapat membuat banyak laporan; setiap laporan dimiliki 1 user.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6060"/>
                </a:solidFill>
                <a:latin typeface="Calibri"/>
              </a:rPr>
              <a:t>Aplikasi Pengaduan Fasilitas Kampus  —  Pemrograman Perangkat Bergerak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0606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6A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9FC5E8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Rencana Pelaksanaan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371600"/>
            <a:ext cx="1828800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399032"/>
            <a:ext cx="18288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Minggu 1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371600"/>
            <a:ext cx="786384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1399032"/>
            <a:ext cx="7498079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12121"/>
                </a:solidFill>
                <a:latin typeface="Calibri"/>
              </a:rPr>
              <a:t>Analisis kebutuhan &amp; studi pustaka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029968"/>
            <a:ext cx="1828800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057400"/>
            <a:ext cx="18288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Minggu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029968"/>
            <a:ext cx="786384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2057400"/>
            <a:ext cx="7498079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12121"/>
                </a:solidFill>
                <a:latin typeface="Calibri"/>
              </a:rPr>
              <a:t>Perancangan sistem (arsitektur, ERD, mockup)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688336"/>
            <a:ext cx="1828800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715768"/>
            <a:ext cx="18288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Minggu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2688336"/>
            <a:ext cx="786384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2715768"/>
            <a:ext cx="7498079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12121"/>
                </a:solidFill>
                <a:latin typeface="Calibri"/>
              </a:rPr>
              <a:t>Pembangunan Backend &amp; Database (REST API)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346704"/>
            <a:ext cx="1828800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374136"/>
            <a:ext cx="18288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Minggu 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3346704"/>
            <a:ext cx="786384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46120" y="3374136"/>
            <a:ext cx="7498079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12121"/>
                </a:solidFill>
                <a:latin typeface="Calibri"/>
              </a:rPr>
              <a:t>Pembangunan aplikasi mobile (Flutter)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4005072"/>
            <a:ext cx="1828800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032504"/>
            <a:ext cx="18288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Minggu 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4005072"/>
            <a:ext cx="786384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46120" y="4032504"/>
            <a:ext cx="7498079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12121"/>
                </a:solidFill>
                <a:latin typeface="Calibri"/>
              </a:rPr>
              <a:t>Integrasi &amp; pengujian end-to-end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4663440"/>
            <a:ext cx="1828800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690872"/>
            <a:ext cx="18288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Minggu 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4663440"/>
            <a:ext cx="786384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46120" y="4690872"/>
            <a:ext cx="7498079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12121"/>
                </a:solidFill>
                <a:latin typeface="Calibri"/>
              </a:rPr>
              <a:t>Penyempurnaan &amp; dokumentasi tugas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6060"/>
                </a:solidFill>
                <a:latin typeface="Calibri"/>
              </a:rPr>
              <a:t>Aplikasi Pengaduan Fasilitas Kampus  —  Pemrograman Perangkat Bergerak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0606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6A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9FC5E8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Mockup UI Mobile</a:t>
            </a:r>
          </a:p>
        </p:txBody>
      </p:sp>
      <p:pic>
        <p:nvPicPr>
          <p:cNvPr id="6" name="Picture 5" descr="09_mockup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162" y="1508759"/>
            <a:ext cx="3231369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6060"/>
                </a:solidFill>
                <a:latin typeface="Calibri"/>
              </a:rPr>
              <a:t>Aplikasi Pengaduan Fasilitas Kampus  —  Pemrograman Perangkat Bergerak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0606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6A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9FC5E8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Mockup UI Mobile</a:t>
            </a:r>
          </a:p>
        </p:txBody>
      </p:sp>
      <p:pic>
        <p:nvPicPr>
          <p:cNvPr id="6" name="Picture 5" descr="01_spl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22" y="1508760"/>
            <a:ext cx="2112654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3149" y="6172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D47A1"/>
                </a:solidFill>
                <a:latin typeface="Calibri"/>
              </a:rPr>
              <a:t>Splash Screen</a:t>
            </a:r>
          </a:p>
        </p:txBody>
      </p:sp>
      <p:pic>
        <p:nvPicPr>
          <p:cNvPr id="8" name="Picture 7" descr="02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9520" y="1508760"/>
            <a:ext cx="2112654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67047" y="6172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D47A1"/>
                </a:solidFill>
                <a:latin typeface="Calibri"/>
              </a:rPr>
              <a:t>Login</a:t>
            </a:r>
          </a:p>
        </p:txBody>
      </p:sp>
      <p:pic>
        <p:nvPicPr>
          <p:cNvPr id="10" name="Picture 9" descr="03_regi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3418" y="1508760"/>
            <a:ext cx="2112654" cy="457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30945" y="6172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D47A1"/>
                </a:solidFill>
                <a:latin typeface="Calibri"/>
              </a:rPr>
              <a:t>Register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6060"/>
                </a:solidFill>
                <a:latin typeface="Calibri"/>
              </a:rPr>
              <a:t>Aplikasi Pengaduan Fasilitas Kampus  —  Pemrograman Perangkat Bergerak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0606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6A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9FC5E8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Mockup UI Mobile</a:t>
            </a:r>
          </a:p>
        </p:txBody>
      </p:sp>
      <p:pic>
        <p:nvPicPr>
          <p:cNvPr id="6" name="Picture 5" descr="04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22" y="1508760"/>
            <a:ext cx="2112654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3149" y="6172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D47A1"/>
                </a:solidFill>
                <a:latin typeface="Calibri"/>
              </a:rPr>
              <a:t>Home / Daftar Laporan</a:t>
            </a:r>
          </a:p>
        </p:txBody>
      </p:sp>
      <p:pic>
        <p:nvPicPr>
          <p:cNvPr id="8" name="Picture 7" descr="05_buat_lapor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9520" y="1508760"/>
            <a:ext cx="2112654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67047" y="6172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D47A1"/>
                </a:solidFill>
                <a:latin typeface="Calibri"/>
              </a:rPr>
              <a:t>Buat Laporan</a:t>
            </a:r>
          </a:p>
        </p:txBody>
      </p:sp>
      <p:pic>
        <p:nvPicPr>
          <p:cNvPr id="10" name="Picture 9" descr="06_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3418" y="1508760"/>
            <a:ext cx="2112654" cy="457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30945" y="6172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D47A1"/>
                </a:solidFill>
                <a:latin typeface="Calibri"/>
              </a:rPr>
              <a:t>Detail Laporan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6060"/>
                </a:solidFill>
                <a:latin typeface="Calibri"/>
              </a:rPr>
              <a:t>Aplikasi Pengaduan Fasilitas Kampus  —  Pemrograman Perangkat Bergerak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0606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6A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TERIMA KASIH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0" y="3657600"/>
            <a:ext cx="2286000" cy="45720"/>
          </a:xfrm>
          <a:prstGeom prst="rect">
            <a:avLst/>
          </a:prstGeom>
          <a:solidFill>
            <a:srgbClr val="26A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D6E4F7"/>
                </a:solidFill>
                <a:latin typeface="Calibri"/>
              </a:rPr>
              <a:t>Aplikasi Pengaduan Fasilitas Kampus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9FC5E8"/>
                </a:solidFill>
                <a:latin typeface="Calibri"/>
              </a:rPr>
              <a:t>Universitas Muhammadiyah Bandung —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